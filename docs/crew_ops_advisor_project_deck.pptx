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scene: this is not a chatbot demo. It is a time-critical crew-control decision where a wrong number can lead to an illegal roster or an expensive cancellation.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core claim: deterministic Python computes every number, verdict and cost. The model only determines which question to ask and explains validated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10-tool surface. The important idea is not the exact names; it is that every tool returns the same claim envelope, so the grounding gate and workspace can behave deterministically.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money slide: the tool gives the actionable recommendation, the cost, and the reasons behind exclusions. Mention C-3310 at INR 18,500 and C-2210 via deadhead at INR 41,200.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validated engine numbers from agent replay numbers. The demo safety net is important: the workspace and tool endpoints still work when there is no API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high_resolution_night_time_cont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7472" y="292608"/>
            <a:ext cx="5532120" cy="5961888"/>
          </a:xfrm>
          <a:prstGeom prst="rect">
            <a:avLst/>
          </a:prstGeom>
          <a:solidFill>
            <a:srgbClr val="020A13">
              <a:alpha val="91000"/>
            </a:srgbClr>
          </a:solidFill>
          <a:ln w="12700">
            <a:solidFill>
              <a:srgbClr val="020A1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5669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A9FF"/>
                </a:solidFill>
              </a:rPr>
              <a:t>CREW OPS ADVISOR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941832"/>
            <a:ext cx="52120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3F7FB"/>
                </a:solidFill>
              </a:rPr>
              <a:t>AI at the crew-control desk, without letting AI calculate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94360" y="2578608"/>
            <a:ext cx="2011680" cy="0"/>
          </a:xfrm>
          <a:prstGeom prst="line">
            <a:avLst/>
          </a:prstGeom>
          <a:noFill/>
          <a:ln w="12700">
            <a:solidFill>
              <a:srgbClr val="F5B8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2852928"/>
            <a:ext cx="480060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DDE9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controller loses a captain two hours before report. The system has to search crew, satisfy rules, price options and explain why every other candidate failed.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03504" y="5193792"/>
            <a:ext cx="960120" cy="713232"/>
          </a:xfrm>
          <a:prstGeom prst="roundRect">
            <a:avLst>
              <a:gd name="adj" fmla="val 10256"/>
            </a:avLst>
          </a:prstGeom>
          <a:solidFill>
            <a:srgbClr val="39A9FF">
              <a:alpha val="17000"/>
            </a:srgbClr>
          </a:solidFill>
          <a:ln w="12700">
            <a:solidFill>
              <a:srgbClr val="39A9FF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" y="52943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F7FB"/>
                </a:solidFill>
              </a:rPr>
              <a:t>150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40664" y="56052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8B5C6"/>
                </a:solidFill>
              </a:rPr>
              <a:t>crew records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737360" y="5193792"/>
            <a:ext cx="960120" cy="713232"/>
          </a:xfrm>
          <a:prstGeom prst="roundRect">
            <a:avLst>
              <a:gd name="adj" fmla="val 10256"/>
            </a:avLst>
          </a:prstGeom>
          <a:solidFill>
            <a:srgbClr val="39A9FF">
              <a:alpha val="17000"/>
            </a:srgbClr>
          </a:solidFill>
          <a:ln w="12700">
            <a:solidFill>
              <a:srgbClr val="39A9FF">
                <a:alpha val="8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74520" y="52943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F7FB"/>
                </a:solidFill>
              </a:rPr>
              <a:t>147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874520" y="56052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8B5C6"/>
                </a:solidFill>
              </a:rPr>
              <a:t>flight legs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871216" y="5193792"/>
            <a:ext cx="960120" cy="713232"/>
          </a:xfrm>
          <a:prstGeom prst="roundRect">
            <a:avLst>
              <a:gd name="adj" fmla="val 10256"/>
            </a:avLst>
          </a:prstGeom>
          <a:solidFill>
            <a:srgbClr val="39A9FF">
              <a:alpha val="17000"/>
            </a:srgbClr>
          </a:solidFill>
          <a:ln w="12700">
            <a:solidFill>
              <a:srgbClr val="39A9FF">
                <a:alpha val="8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08376" y="52943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F7FB"/>
                </a:solidFill>
              </a:rPr>
              <a:t>39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3008376" y="56052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8B5C6"/>
                </a:solidFill>
              </a:rPr>
              <a:t>pairings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005072" y="5193792"/>
            <a:ext cx="1060704" cy="713232"/>
          </a:xfrm>
          <a:prstGeom prst="roundRect">
            <a:avLst>
              <a:gd name="adj" fmla="val 10256"/>
            </a:avLst>
          </a:prstGeom>
          <a:solidFill>
            <a:srgbClr val="F5B84B">
              <a:alpha val="17000"/>
            </a:srgbClr>
          </a:solidFill>
          <a:ln w="12700">
            <a:solidFill>
              <a:srgbClr val="F5B84B">
                <a:alpha val="8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42232" y="529437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F7FB"/>
                </a:solidFill>
              </a:rPr>
              <a:t>7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4142232" y="560527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8B5C6"/>
                </a:solidFill>
              </a:rPr>
              <a:t>rules checked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03504" y="4069080"/>
            <a:ext cx="4023360" cy="438912"/>
          </a:xfrm>
          <a:prstGeom prst="roundRect">
            <a:avLst>
              <a:gd name="adj" fmla="val 10417"/>
            </a:avLst>
          </a:prstGeom>
          <a:solidFill>
            <a:srgbClr val="F5B84B">
              <a:alpha val="14000"/>
            </a:srgbClr>
          </a:solidFill>
          <a:ln w="12700">
            <a:solidFill>
              <a:srgbClr val="F5B84B">
                <a:alpha val="7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" y="4187952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7FB"/>
                </a:solidFill>
              </a:rPr>
              <a:t>One sentence: the model asks, Python decides.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CA0"/>
                </a:solidFill>
              </a:rPr>
              <a:t>Crew Ops Advisor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CA0"/>
                </a:solidFill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A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architecture is the product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69494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9E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allowed to understand the request and propose possibilities. It is not allowed to compute figures, legality, cost or ranking.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1600200" y="2779776"/>
            <a:ext cx="1371600" cy="0"/>
          </a:xfrm>
          <a:prstGeom prst="line">
            <a:avLst/>
          </a:prstGeom>
          <a:noFill/>
          <a:ln w="12700">
            <a:solidFill>
              <a:srgbClr val="39A9F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0" y="2779776"/>
            <a:ext cx="1371600" cy="0"/>
          </a:xfrm>
          <a:prstGeom prst="line">
            <a:avLst/>
          </a:prstGeom>
          <a:noFill/>
          <a:ln w="12700">
            <a:solidFill>
              <a:srgbClr val="39A9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543800" y="2779776"/>
            <a:ext cx="1371600" cy="0"/>
          </a:xfrm>
          <a:prstGeom prst="line">
            <a:avLst/>
          </a:prstGeom>
          <a:noFill/>
          <a:ln w="12700">
            <a:solidFill>
              <a:srgbClr val="39A9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543800" y="4242816"/>
            <a:ext cx="1371600" cy="0"/>
          </a:xfrm>
          <a:prstGeom prst="line">
            <a:avLst/>
          </a:prstGeom>
          <a:noFill/>
          <a:ln w="12700">
            <a:solidFill>
              <a:srgbClr val="27415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43600" y="4242816"/>
            <a:ext cx="-1371600" cy="0"/>
          </a:xfrm>
          <a:prstGeom prst="line">
            <a:avLst/>
          </a:prstGeom>
          <a:noFill/>
          <a:ln w="12700">
            <a:solidFill>
              <a:srgbClr val="27415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71800" y="4242816"/>
            <a:ext cx="-1371600" cy="0"/>
          </a:xfrm>
          <a:prstGeom prst="line">
            <a:avLst/>
          </a:prstGeom>
          <a:noFill/>
          <a:ln w="12700">
            <a:solidFill>
              <a:srgbClr val="27415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4360" y="2176272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0E2137"/>
          </a:solidFill>
          <a:ln w="12700">
            <a:solidFill>
              <a:srgbClr val="39A9FF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322576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Controller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" y="2651760"/>
            <a:ext cx="14081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A8B5C6"/>
                </a:solidFill>
              </a:rPr>
              <a:t>Plain English disruption: “C-1042 is sick for P-2291 — what should I do?”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2816352" y="1947672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122846"/>
          </a:solidFill>
          <a:ln w="12700">
            <a:solidFill>
              <a:srgbClr val="9B8CFF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80944" y="209397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Language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80944" y="2423160"/>
            <a:ext cx="1792224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A8B5C6"/>
                </a:solidFill>
              </a:rPr>
              <a:t>Owns intent, ambiguity, tool routing and phrasing. Never owns arithmetic or verdicts.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5413248" y="1947672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102238"/>
          </a:solidFill>
          <a:ln w="12700">
            <a:solidFill>
              <a:srgbClr val="F5B84B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09397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Tool envelope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77840" y="2423160"/>
            <a:ext cx="1792224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A8B5C6"/>
                </a:solidFill>
              </a:rPr>
              <a:t>{ summary, claims[], missing[], data }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A8B5C6"/>
                </a:solidFill>
              </a:rPr>
              <a:t>Every figure/verdict has a claim id.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8028432" y="1947672"/>
            <a:ext cx="2322576" cy="1417320"/>
          </a:xfrm>
          <a:prstGeom prst="roundRect">
            <a:avLst>
              <a:gd name="adj" fmla="val 5161"/>
            </a:avLst>
          </a:prstGeom>
          <a:solidFill>
            <a:srgbClr val="0F2B31"/>
          </a:solidFill>
          <a:ln w="12700">
            <a:solidFill>
              <a:srgbClr val="2AD39B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93024" y="209397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Deterministic engine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93024" y="2423160"/>
            <a:ext cx="1993392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A8B5C6"/>
                </a:solidFill>
              </a:rPr>
              <a:t>Rules, impact tracing, candidate enumeration, legality simulation, costing and ranking.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8028432" y="3675888"/>
            <a:ext cx="2322576" cy="960120"/>
          </a:xfrm>
          <a:prstGeom prst="roundRect">
            <a:avLst>
              <a:gd name="adj" fmla="val 7619"/>
            </a:avLst>
          </a:prstGeom>
          <a:solidFill>
            <a:srgbClr val="0E2137"/>
          </a:solidFill>
          <a:ln w="12700">
            <a:solidFill>
              <a:srgbClr val="77C8FF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3024" y="3822192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Read-only dataset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93024" y="4151376"/>
            <a:ext cx="199339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A8B5C6"/>
                </a:solidFill>
              </a:rPr>
              <a:t>flights · crew · rosters · reserves · costs · duty clocks · certifications · risk signals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5321808" y="3675888"/>
            <a:ext cx="2304288" cy="960120"/>
          </a:xfrm>
          <a:prstGeom prst="roundRect">
            <a:avLst>
              <a:gd name="adj" fmla="val 7619"/>
            </a:avLst>
          </a:prstGeom>
          <a:solidFill>
            <a:srgbClr val="2A1820"/>
          </a:solidFill>
          <a:ln w="12700">
            <a:solidFill>
              <a:srgbClr val="FF5C73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3822192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Claim gate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4151376"/>
            <a:ext cx="197510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A8B5C6"/>
                </a:solidFill>
              </a:rPr>
              <a:t>Substitutes {{claim:c7}} with engine text. Ungrounded figures get one correction; then withheld.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2615184" y="3675888"/>
            <a:ext cx="2304288" cy="960120"/>
          </a:xfrm>
          <a:prstGeom prst="roundRect">
            <a:avLst>
              <a:gd name="adj" fmla="val 7619"/>
            </a:avLst>
          </a:prstGeom>
          <a:solidFill>
            <a:srgbClr val="0E2137"/>
          </a:solidFill>
          <a:ln w="12700">
            <a:solidFill>
              <a:srgbClr val="39A9FF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79776" y="3822192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Workspace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779776" y="4151376"/>
            <a:ext cx="197510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A8B5C6"/>
                </a:solidFill>
              </a:rPr>
              <a:t>Panels render only from tool data, so chat and evidence cannot disagree.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594360" y="5248656"/>
            <a:ext cx="2057400" cy="310896"/>
          </a:xfrm>
          <a:prstGeom prst="roundRect">
            <a:avLst>
              <a:gd name="adj" fmla="val 17647"/>
            </a:avLst>
          </a:prstGeom>
          <a:solidFill>
            <a:srgbClr val="F5B84B">
              <a:alpha val="18000"/>
            </a:srgbClr>
          </a:solidFill>
          <a:ln w="12700">
            <a:solidFill>
              <a:srgbClr val="F5B84B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" y="5326380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7FB"/>
                </a:solidFill>
              </a:rPr>
              <a:t>Split by authority, not topic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880360" y="5248656"/>
            <a:ext cx="2880360" cy="310896"/>
          </a:xfrm>
          <a:prstGeom prst="roundRect">
            <a:avLst>
              <a:gd name="adj" fmla="val 17647"/>
            </a:avLst>
          </a:prstGeom>
          <a:solidFill>
            <a:srgbClr val="FF5C73">
              <a:alpha val="18000"/>
            </a:srgbClr>
          </a:solidFill>
          <a:ln w="12700">
            <a:solidFill>
              <a:srgbClr val="FF5C73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90088" y="5326380"/>
            <a:ext cx="2660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7FB"/>
                </a:solidFill>
              </a:rPr>
              <a:t>No tool accepts cost/count/duration/verdict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89320" y="5248656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2AD39B">
              <a:alpha val="18000"/>
            </a:srgbClr>
          </a:solidFill>
          <a:ln w="12700">
            <a:solidFill>
              <a:srgbClr val="2AD39B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99048" y="5326380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7FB"/>
                </a:solidFill>
              </a:rPr>
              <a:t>Model switched off? workspace still runs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961120" y="5248656"/>
            <a:ext cx="2331720" cy="310896"/>
          </a:xfrm>
          <a:prstGeom prst="roundRect">
            <a:avLst>
              <a:gd name="adj" fmla="val 17647"/>
            </a:avLst>
          </a:prstGeom>
          <a:solidFill>
            <a:srgbClr val="39A9FF">
              <a:alpha val="18000"/>
            </a:srgbClr>
          </a:solidFill>
          <a:ln w="12700">
            <a:solidFill>
              <a:srgbClr val="39A9FF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70848" y="5326380"/>
            <a:ext cx="2112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7FB"/>
                </a:solidFill>
              </a:rPr>
              <a:t>Every claim is traceable to data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CA0"/>
                </a:solidFill>
              </a:rPr>
              <a:t>Crew Ops Advisor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CA0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A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SURFACE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 tools cover the whole brief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115568"/>
            <a:ext cx="704088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CEA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tools are deliberately broad: the model asks one operational question and Python joins the files, checks rules and returns a grounded result.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2057400" y="2807208"/>
            <a:ext cx="1344168" cy="0"/>
          </a:xfrm>
          <a:prstGeom prst="line">
            <a:avLst/>
          </a:prstGeom>
          <a:noFill/>
          <a:ln w="12700">
            <a:solidFill>
              <a:srgbClr val="27415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40680" y="2807208"/>
            <a:ext cx="1353312" cy="0"/>
          </a:xfrm>
          <a:prstGeom prst="line">
            <a:avLst/>
          </a:prstGeom>
          <a:noFill/>
          <a:ln w="12700">
            <a:solidFill>
              <a:srgbClr val="27415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19202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0E2137"/>
          </a:solidFill>
          <a:ln w="12700">
            <a:solidFill>
              <a:srgbClr val="39A9FF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066544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Tier 1 — read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16 questions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" y="2395728"/>
            <a:ext cx="2368296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A8B5C6"/>
                </a:solidFill>
              </a:rPr>
              <a:t>lookup · crew_profile · earliest_next_report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A8B5C6"/>
                </a:solidFill>
              </a:rPr>
              <a:t>Reads records and recomputes duty clocks.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3657600" y="192024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122846"/>
          </a:solidFill>
          <a:ln w="12700">
            <a:solidFill>
              <a:srgbClr val="9B8CFF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206654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Tier 2 — consequence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14 questions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22192" y="2395728"/>
            <a:ext cx="2414016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A8B5C6"/>
                </a:solidFill>
              </a:rPr>
              <a:t>trace_disruption · check_assignment · duty_timeline · simulate_disruption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A8B5C6"/>
                </a:solidFill>
              </a:rPr>
              <a:t>Shows what breaks and why.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675120" y="1920240"/>
            <a:ext cx="2788920" cy="1737360"/>
          </a:xfrm>
          <a:prstGeom prst="roundRect">
            <a:avLst>
              <a:gd name="adj" fmla="val 4211"/>
            </a:avLst>
          </a:prstGeom>
          <a:solidFill>
            <a:srgbClr val="0F2B31"/>
          </a:solidFill>
          <a:ln w="12700">
            <a:solidFill>
              <a:srgbClr val="2AD39B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9712" y="2066544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Tier 3 — recommend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8 questions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39712" y="2395728"/>
            <a:ext cx="2459736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A8B5C6"/>
                </a:solidFill>
              </a:rPr>
              <a:t>resolve_cover · draft_notification · validate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A8B5C6"/>
                </a:solidFill>
              </a:rPr>
              <a:t>Enumerates, prices, ranks and explains.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685800" y="4069080"/>
            <a:ext cx="5138928" cy="1508760"/>
          </a:xfrm>
          <a:prstGeom prst="roundRect">
            <a:avLst>
              <a:gd name="adj" fmla="val 2424"/>
            </a:avLst>
          </a:prstGeom>
          <a:solidFill>
            <a:srgbClr val="091725"/>
          </a:solidFill>
          <a:ln w="12700">
            <a:solidFill>
              <a:srgbClr val="2944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206240"/>
            <a:ext cx="482803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B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B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"summary": "5 legal candidates...",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B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"claims": [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B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{"id":"c3", "text":"cheapest legal option..."}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B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B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"missing": ["no cancellation cost here"],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B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"data": { "options": [...], "exclusions": [...]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B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5257800" cy="1508760"/>
          </a:xfrm>
          <a:prstGeom prst="roundRect">
            <a:avLst>
              <a:gd name="adj" fmla="val 3030"/>
            </a:avLst>
          </a:prstGeom>
          <a:solidFill>
            <a:srgbClr val="0B1C31"/>
          </a:solidFill>
          <a:ln w="12700">
            <a:solidFill>
              <a:srgbClr val="2741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4224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Why this matters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73952" y="4553712"/>
            <a:ext cx="4553712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A8B5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figure written as {{claim:c3}} is never typed by the model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A8B5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Missing facts stay inside the result, not in fragile prose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A8B5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Follow-ups re-enumerate and re-price; they do not read the next row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1463040" y="5815584"/>
            <a:ext cx="4800600" cy="438912"/>
          </a:xfrm>
          <a:prstGeom prst="roundRect">
            <a:avLst>
              <a:gd name="adj" fmla="val 10417"/>
            </a:avLst>
          </a:prstGeom>
          <a:solidFill>
            <a:srgbClr val="39A9FF">
              <a:alpha val="14000"/>
            </a:srgbClr>
          </a:solidFill>
          <a:ln w="12700">
            <a:solidFill>
              <a:srgbClr val="39A9FF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72768" y="5934456"/>
            <a:ext cx="4581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7FB"/>
                </a:solidFill>
              </a:rPr>
              <a:t>Same loop for all 38 questions — no per-question handling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29400" y="5815584"/>
            <a:ext cx="2743200" cy="438912"/>
          </a:xfrm>
          <a:prstGeom prst="roundRect">
            <a:avLst>
              <a:gd name="adj" fmla="val 10417"/>
            </a:avLst>
          </a:prstGeom>
          <a:solidFill>
            <a:srgbClr val="F5B84B">
              <a:alpha val="14000"/>
            </a:srgbClr>
          </a:solidFill>
          <a:ln w="12700">
            <a:solidFill>
              <a:srgbClr val="F5B84B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39128" y="593445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7FB"/>
                </a:solidFill>
              </a:rPr>
              <a:t>Data contract first; prompt second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CA0"/>
                </a:solidFill>
              </a:rPr>
              <a:t>Crew Ops Advisor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CA0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A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Flagship scenario: recover P-2291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115568"/>
            <a:ext cx="76809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A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Captain C-1042 is out for a two-day A320 pairing. The engine enumerates every candidate, simulates legality under all seven rules, prices each option and ranks cancellation last.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2AD39B">
              <a:alpha val="17000"/>
            </a:srgbClr>
          </a:solidFill>
          <a:ln w="12700">
            <a:solidFill>
              <a:srgbClr val="2AD39B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836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F7FB"/>
                </a:solidFill>
              </a:rPr>
              <a:t>5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8B5C6"/>
                </a:solidFill>
              </a:rPr>
              <a:t>legal candidates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12848" y="178308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5C73">
              <a:alpha val="17000"/>
            </a:srgbClr>
          </a:solidFill>
          <a:ln w="12700">
            <a:solidFill>
              <a:srgbClr val="FF5C73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0008" y="18836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F7FB"/>
                </a:solidFill>
              </a:rPr>
              <a:t>19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350008" y="21945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8B5C6"/>
                </a:solidFill>
              </a:rPr>
              <a:t>excluded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31336" y="178308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5B84B">
              <a:alpha val="17000"/>
            </a:srgbClr>
          </a:solidFill>
          <a:ln w="12700">
            <a:solidFill>
              <a:srgbClr val="F5B84B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68496" y="18836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F7FB"/>
                </a:solidFill>
              </a:rPr>
              <a:t>6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968496" y="2194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8B5C6"/>
                </a:solidFill>
              </a:rPr>
              <a:t>flights uncovered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559552" y="1783080"/>
            <a:ext cx="1645920" cy="713232"/>
          </a:xfrm>
          <a:prstGeom prst="roundRect">
            <a:avLst>
              <a:gd name="adj" fmla="val 10256"/>
            </a:avLst>
          </a:prstGeom>
          <a:solidFill>
            <a:srgbClr val="39A9FF">
              <a:alpha val="17000"/>
            </a:srgbClr>
          </a:solidFill>
          <a:ln w="12700">
            <a:solidFill>
              <a:srgbClr val="39A9F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96712" y="1883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F7FB"/>
                </a:solidFill>
              </a:rPr>
              <a:t>₹18.5k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696712" y="21945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8B5C6"/>
                </a:solidFill>
              </a:rPr>
              <a:t>cheapest option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16352"/>
            <a:ext cx="6419088" cy="2240280"/>
          </a:xfrm>
          <a:prstGeom prst="roundRect">
            <a:avLst>
              <a:gd name="adj" fmla="val 2041"/>
            </a:avLst>
          </a:prstGeom>
          <a:solidFill>
            <a:srgbClr val="0B1C31"/>
          </a:solidFill>
          <a:ln w="12700">
            <a:solidFill>
              <a:srgbClr val="2741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999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B"/>
                </a:solidFill>
              </a:rPr>
              <a:t>Ranked cover options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1248" y="34015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A2B8"/>
                </a:solidFill>
              </a:rPr>
              <a:t>#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417320" y="340156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A2B8"/>
                </a:solidFill>
              </a:rPr>
              <a:t>Crew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40280" y="340156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A2B8"/>
                </a:solidFill>
              </a:rPr>
              <a:t>Source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62272" y="34015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A2B8"/>
                </a:solidFill>
              </a:rPr>
              <a:t>Why it ranks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87568" y="340156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A2B8"/>
                </a:solidFill>
              </a:rPr>
              <a:t>Cost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41248" y="368503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AD39B"/>
                </a:solidFill>
              </a:rPr>
              <a:t>1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1417320" y="368503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3F7FB"/>
                </a:solidFill>
              </a:rPr>
              <a:t>C-3310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2240280" y="368503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B5C6"/>
                </a:solidFill>
              </a:rPr>
              <a:t>reserve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462272" y="3685032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8B5C6"/>
                </a:solidFill>
              </a:rPr>
              <a:t>no delay; rules clear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824728" y="36850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AD39B"/>
                </a:solidFill>
              </a:rPr>
              <a:t>INR 18,500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841248" y="395020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9A9FF"/>
                </a:solidFill>
              </a:rPr>
              <a:t>2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1417320" y="395020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3F7FB"/>
                </a:solidFill>
              </a:rPr>
              <a:t>C-1526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240280" y="395020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B5C6"/>
                </a:solidFill>
              </a:rPr>
              <a:t>day off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4462272" y="3950208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8B5C6"/>
                </a:solidFill>
              </a:rPr>
              <a:t>no delay; rules clear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5824728" y="39502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3F7FB"/>
                </a:solidFill>
              </a:rPr>
              <a:t>INR 24,000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841248" y="42153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9A9FF"/>
                </a:solidFill>
              </a:rPr>
              <a:t>3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1417320" y="421538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3F7FB"/>
                </a:solidFill>
              </a:rPr>
              <a:t>C-3983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2240280" y="42153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B5C6"/>
                </a:solidFill>
              </a:rPr>
              <a:t>day off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4462272" y="4215384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8B5C6"/>
                </a:solidFill>
              </a:rPr>
              <a:t>no delay; rules clear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5824728" y="42153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3F7FB"/>
                </a:solidFill>
              </a:rPr>
              <a:t>INR 24,000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841248" y="44805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9A9FF"/>
                </a:solidFill>
              </a:rPr>
              <a:t>4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1417320" y="44805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3F7FB"/>
                </a:solidFill>
              </a:rPr>
              <a:t>C-5566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2240280" y="448056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B5C6"/>
                </a:solidFill>
              </a:rPr>
              <a:t>day off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4462272" y="4480560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8B5C6"/>
                </a:solidFill>
              </a:rPr>
              <a:t>no delay; rules clear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5824728" y="448056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3F7FB"/>
                </a:solidFill>
              </a:rPr>
              <a:t>INR 24,000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841248" y="47457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5B84B"/>
                </a:solidFill>
              </a:rPr>
              <a:t>5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1417320" y="474573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3F7FB"/>
                </a:solidFill>
              </a:rPr>
              <a:t>C-2210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2240280" y="474573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B5C6"/>
                </a:solidFill>
              </a:rPr>
              <a:t>reserve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4462272" y="4745736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8B5C6"/>
                </a:solidFill>
              </a:rPr>
              <a:t>deadhead from DEL; +3h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5824728" y="474573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3F7FB"/>
                </a:solidFill>
              </a:rPr>
              <a:t>INR 41,200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7589520" y="19842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B"/>
                </a:solidFill>
              </a:rPr>
              <a:t>Why others were ruled out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7607808" y="25786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3F7FB"/>
                </a:solidFill>
              </a:rPr>
              <a:t>Rest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144000" y="2615184"/>
            <a:ext cx="2468880" cy="109728"/>
          </a:xfrm>
          <a:prstGeom prst="rect">
            <a:avLst/>
          </a:prstGeom>
          <a:solidFill>
            <a:srgbClr val="FF5C73"/>
          </a:solidFill>
          <a:ln w="12700">
            <a:solidFill>
              <a:srgbClr val="FF5C73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722608" y="25694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5C6"/>
                </a:solidFill>
              </a:rPr>
              <a:t>9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607808" y="295351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3F7FB"/>
                </a:solidFill>
              </a:rPr>
              <a:t>Rating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144000" y="2990088"/>
            <a:ext cx="2194560" cy="109728"/>
          </a:xfrm>
          <a:prstGeom prst="rect">
            <a:avLst/>
          </a:prstGeom>
          <a:solidFill>
            <a:srgbClr val="F5B84B"/>
          </a:solidFill>
          <a:ln w="12700">
            <a:solidFill>
              <a:srgbClr val="F5B84B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722608" y="29443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5C6"/>
                </a:solidFill>
              </a:rPr>
              <a:t>8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607808" y="33284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3F7FB"/>
                </a:solidFill>
              </a:rPr>
              <a:t>Duty hrs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144000" y="3364992"/>
            <a:ext cx="274320" cy="109728"/>
          </a:xfrm>
          <a:prstGeom prst="rect">
            <a:avLst/>
          </a:prstGeom>
          <a:solidFill>
            <a:srgbClr val="9B8CFF"/>
          </a:solidFill>
          <a:ln w="12700">
            <a:solidFill>
              <a:srgbClr val="9B8CFF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722608" y="33192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5C6"/>
                </a:solidFill>
              </a:rPr>
              <a:t>1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607808" y="37033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3F7FB"/>
                </a:solidFill>
              </a:rPr>
              <a:t>On-call/base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144000" y="3739896"/>
            <a:ext cx="274320" cy="109728"/>
          </a:xfrm>
          <a:prstGeom prst="rect">
            <a:avLst/>
          </a:prstGeom>
          <a:solidFill>
            <a:srgbClr val="39A9FF"/>
          </a:solidFill>
          <a:ln w="12700">
            <a:solidFill>
              <a:srgbClr val="39A9FF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722608" y="36941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5C6"/>
                </a:solidFill>
              </a:rPr>
              <a:t>1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607808" y="4224528"/>
            <a:ext cx="32461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5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list is one row per person, because the controller argues about people — not abstract rule groups.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7589520" y="5376672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FF5C73">
              <a:alpha val="14000"/>
            </a:srgbClr>
          </a:solidFill>
          <a:ln w="12700">
            <a:solidFill>
              <a:srgbClr val="FF5C73">
                <a:alpha val="7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99248" y="5495544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7FB"/>
                </a:solidFill>
              </a:rPr>
              <a:t>Illegal ≠ uncallable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646920" y="5376672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F5B84B">
              <a:alpha val="14000"/>
            </a:srgbClr>
          </a:solidFill>
          <a:ln w="12700">
            <a:solidFill>
              <a:srgbClr val="F5B84B">
                <a:alpha val="7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56648" y="5495544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7FB"/>
                </a:solidFill>
              </a:rPr>
              <a:t>Day 1 ≠ full pairing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548640" y="6473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CA0"/>
                </a:solidFill>
              </a:rPr>
              <a:t>Crew Ops Advisor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CA0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A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proven, and where the edges are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115568"/>
            <a:ext cx="758952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CEA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number is the engine number, because it runs with no model attached. The agent number is reported separately and honestly.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901952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2AD39B">
              <a:alpha val="17000"/>
            </a:srgbClr>
          </a:solidFill>
          <a:ln w="12700">
            <a:solidFill>
              <a:srgbClr val="2AD39B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F7FB"/>
                </a:solidFill>
              </a:rPr>
              <a:t>36/36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95528" y="23134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8B5C6"/>
                </a:solidFill>
              </a:rPr>
              <a:t>gradable questions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24912" y="1901952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2AD39B">
              <a:alpha val="17000"/>
            </a:srgbClr>
          </a:solidFill>
          <a:ln w="12700">
            <a:solidFill>
              <a:srgbClr val="2AD39B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62072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F7FB"/>
                </a:solidFill>
              </a:rPr>
              <a:t>19/19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862072" y="23134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8B5C6"/>
                </a:solidFill>
              </a:rPr>
              <a:t>scenario checks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91456" y="1901952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2AD39B">
              <a:alpha val="17000"/>
            </a:srgbClr>
          </a:solidFill>
          <a:ln w="12700">
            <a:solidFill>
              <a:srgbClr val="2AD39B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8616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F7FB"/>
                </a:solidFill>
              </a:rPr>
              <a:t>30/30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928616" y="23134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8B5C6"/>
                </a:solidFill>
              </a:rPr>
              <a:t>loop + gate tests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0" y="1901952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F5B84B">
              <a:alpha val="17000"/>
            </a:srgbClr>
          </a:solidFill>
          <a:ln w="12700">
            <a:solidFill>
              <a:srgbClr val="F5B84B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F7FB"/>
                </a:solidFill>
              </a:rPr>
              <a:t>35/36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995160" y="23134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8B5C6"/>
                </a:solidFill>
              </a:rPr>
              <a:t>last model replay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8368" y="3035808"/>
            <a:ext cx="5349240" cy="1828800"/>
          </a:xfrm>
          <a:prstGeom prst="roundRect">
            <a:avLst>
              <a:gd name="adj" fmla="val 2500"/>
            </a:avLst>
          </a:prstGeom>
          <a:solidFill>
            <a:srgbClr val="0B1C31"/>
          </a:solidFill>
          <a:ln w="12700">
            <a:solidFill>
              <a:srgbClr val="2741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B"/>
                </a:solidFill>
              </a:rPr>
              <a:t>What the tests protect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68680" y="3621024"/>
            <a:ext cx="4526280" cy="8412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5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tool accepts a cost, count, duration or verdict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B5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Invented figures are caught before reaching the controller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B5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Follow-ups re-rank from scratch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B5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loop runs with standard library Python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3035808"/>
            <a:ext cx="5166360" cy="1828800"/>
          </a:xfrm>
          <a:prstGeom prst="roundRect">
            <a:avLst>
              <a:gd name="adj" fmla="val 2500"/>
            </a:avLst>
          </a:prstGeom>
          <a:solidFill>
            <a:srgbClr val="0B1C31"/>
          </a:solidFill>
          <a:ln w="12700">
            <a:solidFill>
              <a:srgbClr val="2741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3246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B"/>
                </a:solidFill>
              </a:rPr>
              <a:t>Known edges before trust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65392" y="3621024"/>
            <a:ext cx="4407408" cy="1097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8B5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gate catches invented figures, not every mislabeled real figure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A8B5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reference data is wrong, the engine is wrong with it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A8B5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deployed chat holds no key of its own — the controller’s key stays in the browser and rides with each question, because a Worker isolate does not outlive a request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1325880" y="5440680"/>
            <a:ext cx="9555480" cy="658368"/>
          </a:xfrm>
          <a:prstGeom prst="roundRect">
            <a:avLst>
              <a:gd name="adj" fmla="val 6944"/>
            </a:avLst>
          </a:prstGeom>
          <a:solidFill>
            <a:srgbClr val="112C43"/>
          </a:solidFill>
          <a:ln w="12700">
            <a:solidFill>
              <a:srgbClr val="39A9FF">
                <a:alpha val="7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5660136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7FB"/>
                </a:solidFill>
              </a:rPr>
              <a:t>Built to be useful even when degraded: /api/tool and the workspace work without an API key.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CA0"/>
                </a:solidFill>
              </a:rPr>
              <a:t>Crew Ops Advisor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CA0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Crew Ops Advisor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Crew Ops Advisor — Project Overview</dc:title>
  <dc:subject>Crew Ops Advisor project overview</dc:subject>
  <dc:creator>OpenAI</dc:creator>
  <cp:lastModifiedBy>OpenAI</cp:lastModifiedBy>
  <cp:revision>1</cp:revision>
  <dcterms:created xsi:type="dcterms:W3CDTF">2026-09-05T11:58:48Z</dcterms:created>
  <dcterms:modified xsi:type="dcterms:W3CDTF">2026-09-05T11:58:48Z</dcterms:modified>
</cp:coreProperties>
</file>